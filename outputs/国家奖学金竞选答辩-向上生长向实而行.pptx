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70c901eed44703" /><Relationship Type="http://schemas.openxmlformats.org/officeDocument/2006/relationships/extended-properties" Target="/docProps/app.xml" Id="R13487aebd1d5480c" /><Relationship Type="http://schemas.openxmlformats.org/officeDocument/2006/relationships/officeDocument" Target="/ppt/presentation.xml" Id="R959fbcd0f2624d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a99fa1ff142a7"/>
  </p:sldMasterIdLst>
  <p:notesMasterIdLst>
    <p:notesMasterId xmlns:r="http://schemas.openxmlformats.org/officeDocument/2006/relationships" r:id="Rfbda96dc3a75436c"/>
  </p:notesMasterIdLst>
  <p:sldIdLst>
    <p:sldId xmlns:r="http://schemas.openxmlformats.org/officeDocument/2006/relationships" id="256" r:id="Rbee5bdb285b94f87"/>
    <p:sldId xmlns:r="http://schemas.openxmlformats.org/officeDocument/2006/relationships" id="257" r:id="Rb6fd6842fb164caa"/>
    <p:sldId xmlns:r="http://schemas.openxmlformats.org/officeDocument/2006/relationships" id="258" r:id="Rd7e041a451104a28"/>
    <p:sldId xmlns:r="http://schemas.openxmlformats.org/officeDocument/2006/relationships" id="259" r:id="R1150221d5a9b4132"/>
    <p:sldId xmlns:r="http://schemas.openxmlformats.org/officeDocument/2006/relationships" id="260" r:id="R6441049c7f354873"/>
    <p:sldId xmlns:r="http://schemas.openxmlformats.org/officeDocument/2006/relationships" id="261" r:id="Rdae53d3e1ad74fd5"/>
    <p:sldId xmlns:r="http://schemas.openxmlformats.org/officeDocument/2006/relationships" id="262" r:id="R7e27d90920094f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4d6686b7147d9" /><Relationship Type="http://schemas.openxmlformats.org/officeDocument/2006/relationships/slideMaster" Target="/ppt/slideMasters/slideMaster1.xml" Id="Rf85a99fa1ff142a7" /><Relationship Type="http://schemas.openxmlformats.org/officeDocument/2006/relationships/notesMaster" Target="/ppt/notesMasters/notesMaster1.xml" Id="Rfbda96dc3a75436c" /><Relationship Type="http://schemas.openxmlformats.org/officeDocument/2006/relationships/presProps" Target="/ppt/presProps.xml" Id="Rb5ad0fa59f514eb8" /><Relationship Type="http://schemas.openxmlformats.org/officeDocument/2006/relationships/tableStyles" Target="/ppt/tableStyles.xml" Id="Rc8f114e359f2423a" /><Relationship Type="http://schemas.openxmlformats.org/officeDocument/2006/relationships/slide" Target="/ppt/slides/slide1.xml" Id="Rbee5bdb285b94f87" /><Relationship Type="http://schemas.openxmlformats.org/officeDocument/2006/relationships/slide" Target="/ppt/slides/slide2.xml" Id="Rb6fd6842fb164caa" /><Relationship Type="http://schemas.openxmlformats.org/officeDocument/2006/relationships/slide" Target="/ppt/slides/slide3.xml" Id="Rd7e041a451104a28" /><Relationship Type="http://schemas.openxmlformats.org/officeDocument/2006/relationships/slide" Target="/ppt/slides/slide4.xml" Id="R1150221d5a9b4132" /><Relationship Type="http://schemas.openxmlformats.org/officeDocument/2006/relationships/slide" Target="/ppt/slides/slide5.xml" Id="R6441049c7f354873" /><Relationship Type="http://schemas.openxmlformats.org/officeDocument/2006/relationships/slide" Target="/ppt/slides/slide6.xml" Id="Rdae53d3e1ad74fd5" /><Relationship Type="http://schemas.openxmlformats.org/officeDocument/2006/relationships/slide" Target="/ppt/slides/slide7.xml" Id="R7e27d9092009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615fdf62c94e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2a763caae54f1c" /><Relationship Type="http://schemas.openxmlformats.org/officeDocument/2006/relationships/notesMaster" Target="/ppt/notesMasters/notesMaster1.xml" Id="Rf9406db614e744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70d73cefc49af" /><Relationship Type="http://schemas.openxmlformats.org/officeDocument/2006/relationships/notesMaster" Target="/ppt/notesMasters/notesMaster1.xml" Id="R845b6f537ec8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09e46bf9b64d58" /><Relationship Type="http://schemas.openxmlformats.org/officeDocument/2006/relationships/notesMaster" Target="/ppt/notesMasters/notesMaster1.xml" Id="R27f384f1ea7e48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b2d605d974f31" /><Relationship Type="http://schemas.openxmlformats.org/officeDocument/2006/relationships/notesMaster" Target="/ppt/notesMasters/notesMaster1.xml" Id="R3e01263a646943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ef505361a4e13" /><Relationship Type="http://schemas.openxmlformats.org/officeDocument/2006/relationships/notesMaster" Target="/ppt/notesMasters/notesMaster1.xml" Id="R01b6951da981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76f85791a434a" /><Relationship Type="http://schemas.openxmlformats.org/officeDocument/2006/relationships/notesMaster" Target="/ppt/notesMasters/notesMaster1.xml" Id="Rbad7f209850245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8ff856cfaf45d2" /><Relationship Type="http://schemas.openxmlformats.org/officeDocument/2006/relationships/notesMaster" Target="/ppt/notesMasters/notesMaster1.xml" Id="R93627db408fa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20秒）：各位老师好，我是智能制造与电气工程学院电气工程及其自动化专业大三学生XXX。今天汇报的主题是“向上生长，向实而行”。这一年，我的绩点从3.11提升到3.95，成绩、专业能力、责任意识和生活状态也在这个过程中逐渐形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35秒）：这一年可以先用几个数字来概括。我的班级学习成绩排名是3/43，综合测评排名是4/43。最明显的变化，是学年绩点从3.11提升到3.95。英语四级513分、六级473分，i志愿年度服务时长80小时以上。除了学习，我还担任班级组织委员，参加排球社团，并获得校级三等奖学金和校级三好学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60秒）：这一页是我想重点汇报的学习变化。24到25学年绩点是3.11，25到26学年提升到3.95，班级学习成绩排名3/43。这个提升并不是短期突击，而是我开始把预习、课堂理解、课后整理和错题复盘固定下来。专业课程中，C语言95分，模拟电子技术和数字电子技术93分，电机学92分，电力电子技术91分，机械臂相关课程93分。我更看重的是，逐渐形成了适合自己的学习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55秒）：在专业学习上，我正在从“学会”走向“会做”。程序设计、电子技术、电机与控制、电力电子，以及机械臂相关课程，开始不再是彼此分散的知识点。机械臂示教编程与同步柔性抓取系统软件设计与制作这门课成绩为93分。我的阶段性目标，是把课程知识连接起来，逐渐形成对电气工程和智能制造的完整工程认知。右侧照片位置留给后续补充真实机械臂或课程实践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55秒）：我有80小时以上的i志愿年度服务时长，主要参加过家乡当地青少年宫志愿助教活动，也参与过家乡当地成促会的相关志愿活动。除此之外，我担任班级组织委员，负责和同学沟通、协助班级事务。志愿服务和班级工作让我体会到，责任不是一句口号，而是愿意把具体的小事做好，让成长不只属于自己。照片位置后续替换为真实活动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40秒）：排球是我主要的输出型爱好。它让我在学习之外找到节奏，也让我在一次次训练和配合中理解协作、坚持和专注。对我来说，全面发展并不是增加很多标签，而是在学习、集体和生活之间保持稳定状态。已有校级三等奖学金和校级三好学生荣誉，也提醒我继续保持踏实的习惯。右侧照片位置后续替换为真实排球训练或比赛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35秒）：未来，我会继续夯实电气工程专业基础，在课程学习之外提升实践能力和解决实际问题的能力，也继续服务集体、参与志愿服务。对我来说，优秀不是一次性的结果，而是把优秀变成习惯，把成长写进每一步行动。我的汇报完毕，谢谢各位老师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7354636bd46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3679624ec4680" /><Relationship Type="http://schemas.openxmlformats.org/officeDocument/2006/relationships/slideLayout" Target="/ppt/slideLayouts/slideLayout1.xml" Id="R7bf3eea9baa6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f3eea9baa6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96a1549ac4ef9" /><Relationship Type="http://schemas.openxmlformats.org/officeDocument/2006/relationships/notesSlide" Target="/ppt/notesSlides/notesSlide1.xml" Id="R45c6c2302cf146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f52b4aee74b73" /><Relationship Type="http://schemas.openxmlformats.org/officeDocument/2006/relationships/notesSlide" Target="/ppt/notesSlides/notesSlide2.xml" Id="Rb389b660be774a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84ae249074e7e" /><Relationship Type="http://schemas.openxmlformats.org/officeDocument/2006/relationships/notesSlide" Target="/ppt/notesSlides/notesSlide3.xml" Id="R608b552e06a94b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716d224824fb3" /><Relationship Type="http://schemas.openxmlformats.org/officeDocument/2006/relationships/notesSlide" Target="/ppt/notesSlides/notesSlide4.xml" Id="R72f47c8b342a40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e4ee5c903486a" /><Relationship Type="http://schemas.openxmlformats.org/officeDocument/2006/relationships/notesSlide" Target="/ppt/notesSlides/notesSlide5.xml" Id="R6017eb4d2bb1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d1c5ef6d640eb" /><Relationship Type="http://schemas.openxmlformats.org/officeDocument/2006/relationships/notesSlide" Target="/ppt/notesSlides/notesSlide6.xml" Id="R044044b9f7df43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8a223cefe450f" /><Relationship Type="http://schemas.openxmlformats.org/officeDocument/2006/relationships/notesSlide" Target="/ppt/notesSlides/notesSlide7.xml" Id="R05044881cd44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F4B5A-1EEF-4465-9829-702CB5DA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E9AFD-88EC-409D-9477-4F8DA652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2DE4A-1EFC-487F-9E40-E02279F2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向上生长，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向实而行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35241-E822-4259-A2F1-4916368D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以专业筑基 · 以实践赋能 · 以责任担当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9F18A-4667-4BFA-8AD5-B9C441D8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A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73A71-8B18-44D4-9066-15B32A56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智能制造与电气工程学院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电气工程及其自动化专业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姓名：XXX</a:t>
            </a:r>
          </a:p>
        </p:txBody>
      </p:sp>
      <p:sp>
        <p:nvSpPr>
          <p:cNvPr id="7" name="cover-photo-placeholder">
            <a:extLst xmlns:a="http://schemas.openxmlformats.org/drawingml/2006/main">
              <a:ext uri="{FF2B5EF4-FFF2-40B4-BE49-F238E27FC236}">
                <a16:creationId xmlns:a16="http://schemas.microsoft.com/office/drawing/2014/main" id="{74B7308C-8650-4385-AF73-0AEB29E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95350"/>
            <a:ext cx="40005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7"/>
          </a:solidFill>
          <a:ln xmlns:a="http://schemas.openxmlformats.org/drawingml/2006/main" w="9525">
            <a:solidFill>
              <a:srgbClr val="A8C7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4BD00-A2D4-4E08-BDBE-CAC3292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241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87376-63C3-4F75-9317-A608D3C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6707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498E9-4739-4C09-8BA3-E3087FE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62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建议替换：个人照片或校园 / 实验场景照片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68F11-2FA2-4DA8-9A32-09E2997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95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A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5CF8C-D3C9-4392-801B-F6C81FC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62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个人真实照片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125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或实验场景照片</a:t>
            </a:r>
          </a:p>
        </p:txBody>
      </p:sp>
    </p:spTree>
    <p:extLst>
      <p:ext uri="{BB962C8B-B14F-4D97-AF65-F5344CB8AC3E}">
        <p14:creationId xmlns:p14="http://schemas.microsoft.com/office/powerpoint/2010/main" val="2085094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8E12AE-B1DA-4EE4-B3A0-DF51DCA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335AC-4DFF-42CB-805D-70DD4A5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这一年，我用几个数字记录成长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05F07-998F-4983-9C00-08FF2D55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0C67D-5137-4DE6-B924-8DBBCFCF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先看变化，再看变化背后的方法</a:t>
            </a:r>
          </a:p>
        </p:txBody>
      </p:sp>
      <p:sp>
        <p:nvSpPr>
          <p:cNvPr id="5" name="gpa-hero">
            <a:extLst xmlns:a="http://schemas.openxmlformats.org/drawingml/2006/main">
              <a:ext uri="{FF2B5EF4-FFF2-40B4-BE49-F238E27FC236}">
                <a16:creationId xmlns:a16="http://schemas.microsoft.com/office/drawing/2014/main" id="{05161A93-7479-47B6-9D0B-2F580E7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0E139-6AAB-4A44-B059-B07A3555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学年绩点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E9407-5892-4099-A730-51452B4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BC444-329A-499D-94EB-DCC295DA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A760C-4CEB-4C1C-AAD4-46F2F3F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58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3.95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01B3F-DA4D-4AC0-A74F-6115BEFC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从一次成绩提升，走向稳定的学习能力</a:t>
            </a:r>
          </a:p>
        </p:txBody>
      </p:sp>
      <p:sp>
        <p:nvSpPr>
          <p:cNvPr id="11" name="class-rank">
            <a:extLst xmlns:a="http://schemas.openxmlformats.org/drawingml/2006/main">
              <a:ext uri="{FF2B5EF4-FFF2-40B4-BE49-F238E27FC236}">
                <a16:creationId xmlns:a16="http://schemas.microsoft.com/office/drawing/2014/main" id="{0FB8C251-EEE7-4E38-8400-55586D83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64D60-0CA0-4C58-AB7D-AF23633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3 / 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AF3F1-FB2B-41A0-BB96-0644F12E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76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班级学习成绩排名</a:t>
            </a:r>
          </a:p>
        </p:txBody>
      </p:sp>
      <p:sp>
        <p:nvSpPr>
          <p:cNvPr id="14" name="assessment-rank">
            <a:extLst xmlns:a="http://schemas.openxmlformats.org/drawingml/2006/main">
              <a:ext uri="{FF2B5EF4-FFF2-40B4-BE49-F238E27FC236}">
                <a16:creationId xmlns:a16="http://schemas.microsoft.com/office/drawing/2014/main" id="{5AA08D30-9FDF-4BDB-8083-0AB532C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4B585-109B-4DDC-AC3B-43EDB3E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40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4 / 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C0A08-6C23-4235-BF62-632F369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76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综合测评排名</a:t>
            </a:r>
          </a:p>
        </p:txBody>
      </p:sp>
      <p:sp>
        <p:nvSpPr>
          <p:cNvPr id="17" name="english">
            <a:extLst xmlns:a="http://schemas.openxmlformats.org/drawingml/2006/main">
              <a:ext uri="{FF2B5EF4-FFF2-40B4-BE49-F238E27FC236}">
                <a16:creationId xmlns:a16="http://schemas.microsoft.com/office/drawing/2014/main" id="{8B830AA6-5E9B-4534-A6F2-DBBA36C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4802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5C362-F334-45D2-AAF3-5E8090B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19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513 / 473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93562-8586-4024-8114-BB9D1D1D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CET-4 / CET-6</a:t>
            </a:r>
          </a:p>
        </p:txBody>
      </p:sp>
      <p:sp>
        <p:nvSpPr>
          <p:cNvPr id="20" name="volunteer-hours">
            <a:extLst xmlns:a="http://schemas.openxmlformats.org/drawingml/2006/main">
              <a:ext uri="{FF2B5EF4-FFF2-40B4-BE49-F238E27FC236}">
                <a16:creationId xmlns:a16="http://schemas.microsoft.com/office/drawing/2014/main" id="{3600D900-EDA4-4037-B371-8F7B9455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DF261-D895-4C04-9A74-A348AB1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19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80+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FF877-DB2A-40F4-88D8-066C077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i志愿年度服务时长</a:t>
            </a:r>
          </a:p>
        </p:txBody>
      </p:sp>
      <p:sp>
        <p:nvSpPr>
          <p:cNvPr id="23" name="identity-ribbon">
            <a:extLst xmlns:a="http://schemas.openxmlformats.org/drawingml/2006/main">
              <a:ext uri="{FF2B5EF4-FFF2-40B4-BE49-F238E27FC236}">
                <a16:creationId xmlns:a16="http://schemas.microsoft.com/office/drawing/2014/main" id="{A7D3288D-9FF9-4881-BF4E-96D76D81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8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32077-A0D2-460B-A027-DEA2FB45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校级三等奖学金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A6F1C-0944-4A0C-ADF5-B6E770C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72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校级“三好学生”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71729-11E7-430E-BA32-BE2F5219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72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班级组织委员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B08D3F-4708-4CB0-BD75-7C4BD9F7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72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排球社团成员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477FD-C2A5-49D3-9E6A-50920773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学业表现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699B7D-8302-41EA-91AF-5332D62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综合荣誉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BECDDA-10DC-496A-A969-2470CA16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班级责任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59687-CAE1-4FC5-A1F3-54F162D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团队生活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454431-C403-49CA-B87A-6D1F007D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51954-6C53-482E-A5AE-53B78B4F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97B286-F374-4A6A-B16B-31E34EA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年度概览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995C0A-0274-4AEF-B656-92FCE247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471329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FF92D5-ED14-423A-BBA6-02A8D5A6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0EA6E-5F05-49CE-83B1-E2FACC51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以学为本｜从3.11到3.95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5A5CE-126A-442D-9D27-60571107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5CC9-4116-43E8-B9BF-81086CDA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从成绩变化，看到学习方法逐渐稳定</a:t>
            </a:r>
          </a:p>
        </p:txBody>
      </p:sp>
      <p:sp>
        <p:nvSpPr>
          <p:cNvPr id="5" name="gpa-growth-panel">
            <a:extLst xmlns:a="http://schemas.openxmlformats.org/drawingml/2006/main">
              <a:ext uri="{FF2B5EF4-FFF2-40B4-BE49-F238E27FC236}">
                <a16:creationId xmlns:a16="http://schemas.microsoft.com/office/drawing/2014/main" id="{3025538C-17EA-4720-8EA8-2370AA67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00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9D976-1344-481B-97CE-E5FDE592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24–25 学年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75136-4793-447E-8943-39D21361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41310-9CD6-4838-A11C-44FB118D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81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25–26 学年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7FA40-7884-48A3-86DA-E8BC52CC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8615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52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3.95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36508-0FAC-47A7-B200-9EC53CF8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BD8"/>
            </a:solidFill>
            <a:prstDash val="solid"/>
          </a:ln>
        </p:spPr>
      </p:sp>
      <p:sp>
        <p:nvSpPr>
          <p:cNvPr id="11" name="gpa-rising-line">
            <a:extLst xmlns:a="http://schemas.openxmlformats.org/drawingml/2006/main">
              <a:ext uri="{FF2B5EF4-FFF2-40B4-BE49-F238E27FC236}">
                <a16:creationId xmlns:a16="http://schemas.microsoft.com/office/drawing/2014/main" id="{30649E71-53A8-45E7-A19D-10748F53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76625"/>
            <a:ext cx="182880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A6B8"/>
            </a:solidFill>
            <a:prstDash val="solid"/>
          </a:ln>
        </p:spPr>
      </p:sp>
      <p:sp>
        <p:nvSpPr>
          <p:cNvPr id="12" name="gpa-start-node">
            <a:extLst xmlns:a="http://schemas.openxmlformats.org/drawingml/2006/main">
              <a:ext uri="{FF2B5EF4-FFF2-40B4-BE49-F238E27FC236}">
                <a16:creationId xmlns:a16="http://schemas.microsoft.com/office/drawing/2014/main" id="{6DE1C554-707A-4CBA-AAF7-E5A9B5E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81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pa-end-node">
            <a:extLst xmlns:a="http://schemas.openxmlformats.org/drawingml/2006/main">
              <a:ext uri="{FF2B5EF4-FFF2-40B4-BE49-F238E27FC236}">
                <a16:creationId xmlns:a16="http://schemas.microsoft.com/office/drawing/2014/main" id="{9B6EA147-C736-4F59-A921-D1150F9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5A1C4-CD28-4F22-B7D0-3A532768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+0.84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90F5E-F5C0-4591-925D-851E47C8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成绩排名 3 / 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B37E0-7CA4-40A4-BAC6-A854CBD5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专业核心课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03F54-899B-4760-8C14-1E0775F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程序与智能制造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1F10E-F963-4D76-95ED-25199C3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C语言程序设计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869B1-547A-4108-A99B-8A5A629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289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7BC95-508F-4800-A55C-7570684F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83926-301B-441B-8975-0CA10E67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机械臂示教编程与同步柔性抓取系统软件设计与制作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46804-065D-4300-8B90-CFFAC1C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480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81B76-2CE7-4D6F-88A8-7AD0766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C57FE-C3E2-4AFE-9813-73A397EA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电子技术基础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23F1D-102B-4AF5-B0D3-69A5727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模拟电子技术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00942-9D22-4C70-83A2-E53F8EB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100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12AD5-F69D-423E-A291-7B9B0BA0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E8B0C-733A-4159-A244-64AB37F5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数字电子技术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8A8EF-3435-4F0B-8F43-39E0CD2C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29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52D6B8-9A47-48B1-B5ED-BC2EFAD3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532C5D-06B6-4752-BB65-DEA85FF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电气专业核心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F7515-F69B-4D21-8CDE-DE2C1F8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91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电机学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6A9843-6C70-4D87-A231-D0CB0E6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91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8CC90-A88B-44A2-BEEA-CBAF9B3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99F09-FEAF-4A71-99BD-35EE75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10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电力电子技术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A9AEAA-5CCF-4EFB-98E2-0FB0935D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4102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1C0CF-C53E-410D-BB25-9BDA00D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531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E36AEB-87C2-456B-9B77-5D3A8FB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76925"/>
            <a:ext cx="544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1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1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比结果更重要的，是逐渐找到适合自己的学习方法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9E89A7-4248-4BE3-AD38-5C7ED5A9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FE6901-079E-43C0-A954-6F1ACF7B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59C8BE-F779-44A7-AF43-F65B701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学习成长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10E253-1B92-48C2-865B-9415E3A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</p:spTree>
    <p:extLst>
      <p:ext uri="{BB962C8B-B14F-4D97-AF65-F5344CB8AC3E}">
        <p14:creationId xmlns:p14="http://schemas.microsoft.com/office/powerpoint/2010/main" val="19671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EB87EF-B6EF-4E71-9A05-EEBC8F89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8C755-7AFE-4A19-A0B2-059D95B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学以致用｜从“学会”走向“会做”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9F12F-D0B3-489D-ACC0-8E814A7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D1CE-5337-4E58-993E-52D2E01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课程知识开始彼此连接，逐渐形成工程认知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CF542-387C-4AB1-8C90-8A38654D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机械臂示教编程与同步柔性抓取系统软件设计与制作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B9CE3-8C5F-44D2-88FD-EB934832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43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CC902-9CB1-4208-802F-18FC5EE1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课程成绩</a:t>
            </a:r>
          </a:p>
        </p:txBody>
      </p:sp>
      <p:sp>
        <p:nvSpPr>
          <p:cNvPr id="8" name="robot-practice-placeholder">
            <a:extLst xmlns:a="http://schemas.openxmlformats.org/drawingml/2006/main">
              <a:ext uri="{FF2B5EF4-FFF2-40B4-BE49-F238E27FC236}">
                <a16:creationId xmlns:a16="http://schemas.microsoft.com/office/drawing/2014/main" id="{763335C5-BBD5-477D-8915-9BAC5735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335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9525">
            <a:solidFill>
              <a:srgbClr val="AFC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CBD8A-BA89-4A99-BC46-34520AB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860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31C5C-C9BB-4402-8169-D0033D67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FB040-DC94-4BE9-8626-F6B89A1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8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建议替换：机械臂实训照片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8A25D-86FC-4894-9787-DE6D6AD5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能力链</a:t>
            </a:r>
          </a:p>
        </p:txBody>
      </p:sp>
      <p:sp>
        <p:nvSpPr>
          <p:cNvPr id="13" name="ability-node-1">
            <a:extLst xmlns:a="http://schemas.openxmlformats.org/drawingml/2006/main">
              <a:ext uri="{FF2B5EF4-FFF2-40B4-BE49-F238E27FC236}">
                <a16:creationId xmlns:a16="http://schemas.microsoft.com/office/drawing/2014/main" id="{3A107535-4654-4ECE-87A9-03283C69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866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61E69-1021-4340-B4B0-AA940B4C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30EAA-D07A-4C7A-9EB1-89E2F721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程序设计</a:t>
            </a:r>
          </a:p>
        </p:txBody>
      </p:sp>
      <p:sp>
        <p:nvSpPr>
          <p:cNvPr id="16" name="ability-arrow-1">
            <a:extLst xmlns:a="http://schemas.openxmlformats.org/drawingml/2006/main">
              <a:ext uri="{FF2B5EF4-FFF2-40B4-BE49-F238E27FC236}">
                <a16:creationId xmlns:a16="http://schemas.microsoft.com/office/drawing/2014/main" id="{FF62A817-92FF-4B4B-91BA-270B5487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43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bility-node-2">
            <a:extLst xmlns:a="http://schemas.openxmlformats.org/drawingml/2006/main">
              <a:ext uri="{FF2B5EF4-FFF2-40B4-BE49-F238E27FC236}">
                <a16:creationId xmlns:a16="http://schemas.microsoft.com/office/drawing/2014/main" id="{0986F025-B0CF-4B31-9EAB-5BD2B4B1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14775"/>
            <a:ext cx="1866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79248-EEAC-4EEA-83B5-CDCDF926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6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CE16E-D171-40A2-960E-0E321245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529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电子技术</a:t>
            </a:r>
          </a:p>
        </p:txBody>
      </p:sp>
      <p:sp>
        <p:nvSpPr>
          <p:cNvPr id="20" name="ability-arrow-2">
            <a:extLst xmlns:a="http://schemas.openxmlformats.org/drawingml/2006/main">
              <a:ext uri="{FF2B5EF4-FFF2-40B4-BE49-F238E27FC236}">
                <a16:creationId xmlns:a16="http://schemas.microsoft.com/office/drawing/2014/main" id="{B85A2377-08DE-4B54-B305-FF85B669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bility-node-3">
            <a:extLst xmlns:a="http://schemas.openxmlformats.org/drawingml/2006/main">
              <a:ext uri="{FF2B5EF4-FFF2-40B4-BE49-F238E27FC236}">
                <a16:creationId xmlns:a16="http://schemas.microsoft.com/office/drawing/2014/main" id="{C05BFB0B-AD63-44B0-A3B1-35E80B87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14775"/>
            <a:ext cx="1866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84C33-0979-4F15-A9CF-C92EA321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6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514C8-C39C-4055-A019-51128EBD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529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电机与控制</a:t>
            </a:r>
          </a:p>
        </p:txBody>
      </p:sp>
      <p:sp>
        <p:nvSpPr>
          <p:cNvPr id="24" name="ability-arrow-3">
            <a:extLst xmlns:a="http://schemas.openxmlformats.org/drawingml/2006/main">
              <a:ext uri="{FF2B5EF4-FFF2-40B4-BE49-F238E27FC236}">
                <a16:creationId xmlns:a16="http://schemas.microsoft.com/office/drawing/2014/main" id="{22477700-6F12-4EE3-89E8-F57F0FA0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bility-node-4">
            <a:extLst xmlns:a="http://schemas.openxmlformats.org/drawingml/2006/main">
              <a:ext uri="{FF2B5EF4-FFF2-40B4-BE49-F238E27FC236}">
                <a16:creationId xmlns:a16="http://schemas.microsoft.com/office/drawing/2014/main" id="{0E22E8BD-0D08-432F-BD54-3E965F3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14775"/>
            <a:ext cx="1866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2384E-3AE2-418C-AA99-F00D0310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6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B0C36-B431-4F9E-A524-76188615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529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电力电子</a:t>
            </a:r>
          </a:p>
        </p:txBody>
      </p:sp>
      <p:sp>
        <p:nvSpPr>
          <p:cNvPr id="28" name="ability-arrow-4">
            <a:extLst xmlns:a="http://schemas.openxmlformats.org/drawingml/2006/main">
              <a:ext uri="{FF2B5EF4-FFF2-40B4-BE49-F238E27FC236}">
                <a16:creationId xmlns:a16="http://schemas.microsoft.com/office/drawing/2014/main" id="{EAE6B99E-BB5D-49AE-B8C4-218A4CF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243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bility-node-5">
            <a:extLst xmlns:a="http://schemas.openxmlformats.org/drawingml/2006/main">
              <a:ext uri="{FF2B5EF4-FFF2-40B4-BE49-F238E27FC236}">
                <a16:creationId xmlns:a16="http://schemas.microsoft.com/office/drawing/2014/main" id="{28A9FBAC-B00E-4CAC-9E10-EF74C041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14775"/>
            <a:ext cx="1866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5F397-6141-43E1-865F-3ADC0FB8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6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8B14AF-69CA-43F1-B3F7-D970FE5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机械臂与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智能制造实践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1D9196-9B7F-4128-BBCA-4B51E616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把分散的课程知识，逐渐连接成完整的工程认知。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7DFAB-0F0A-40F8-A715-F4A31624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目前，我更关注把每门课学到的内容真正接起来。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F2260-37C8-4C8A-A73A-DFB1926C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AA7B33-B0E4-406E-9C8A-F30BFD1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429348-8558-4B3C-A0EB-068E773D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专业实践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A489C-3094-4247-A922-B437A3A1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</p:spTree>
    <p:extLst>
      <p:ext uri="{BB962C8B-B14F-4D97-AF65-F5344CB8AC3E}">
        <p14:creationId xmlns:p14="http://schemas.microsoft.com/office/powerpoint/2010/main" val="491351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AB09C-6B6B-4E4D-B213-9F5CB2A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F18F3-80A8-4AF5-AC6D-8BDBCBE5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躬身服务｜让成长不只属于自己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51D6-F92E-4A60-A110-3195D9C7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B4AF9-59C0-493D-9AD5-87B6344A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参与集体，也在具体的事情里练习责任</a:t>
            </a:r>
          </a:p>
        </p:txBody>
      </p:sp>
      <p:sp>
        <p:nvSpPr>
          <p:cNvPr id="5" name="volunteer-hours-panel">
            <a:extLst xmlns:a="http://schemas.openxmlformats.org/drawingml/2006/main">
              <a:ext uri="{FF2B5EF4-FFF2-40B4-BE49-F238E27FC236}">
                <a16:creationId xmlns:a16="http://schemas.microsoft.com/office/drawing/2014/main" id="{A452948D-5578-4E52-B58D-B2F96806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F3B8-498E-4F4C-9E9F-D490C7F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80+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634DF-7DDD-4236-86C1-1D6E9EF1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B472E-340A-4FE8-BF58-EDE58091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i志愿年度服务时长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F6C51-05F3-40D3-8BB8-B25E982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在具体服务中，我学会把小事做好</a:t>
            </a:r>
          </a:p>
        </p:txBody>
      </p:sp>
      <p:sp>
        <p:nvSpPr>
          <p:cNvPr id="10" name="youth-palace-placeholder">
            <a:extLst xmlns:a="http://schemas.openxmlformats.org/drawingml/2006/main">
              <a:ext uri="{FF2B5EF4-FFF2-40B4-BE49-F238E27FC236}">
                <a16:creationId xmlns:a16="http://schemas.microsoft.com/office/drawing/2014/main" id="{252BC214-0955-4970-A4D3-4CB930F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9525">
            <a:solidFill>
              <a:srgbClr val="AFC8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CEDB5-1091-4991-A7BD-DACA9E3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9EA06-6F14-4B0E-A901-D9A1FA05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05897-8664-4648-810F-6796F8EE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建议替换：青少年宫志愿照片</a:t>
            </a:r>
          </a:p>
        </p:txBody>
      </p:sp>
      <p:sp>
        <p:nvSpPr>
          <p:cNvPr id="14" name="association-placeholder">
            <a:extLst xmlns:a="http://schemas.openxmlformats.org/drawingml/2006/main">
              <a:ext uri="{FF2B5EF4-FFF2-40B4-BE49-F238E27FC236}">
                <a16:creationId xmlns:a16="http://schemas.microsoft.com/office/drawing/2014/main" id="{0520EE5D-4D6C-4672-B4FB-74E6CAA1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7645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6"/>
          </a:solidFill>
          <a:ln xmlns:a="http://schemas.openxmlformats.org/drawingml/2006/main" w="9525">
            <a:solidFill>
              <a:srgbClr val="A8C7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FA107-3E40-4A44-AFFE-7B778116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F5909-5A30-4990-9A6B-9F115847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718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574C9-EA7B-4544-A6C6-64254A6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建议替换：家乡成促会活动照片</a:t>
            </a:r>
          </a:p>
        </p:txBody>
      </p:sp>
      <p:sp>
        <p:nvSpPr>
          <p:cNvPr id="18" name="class-role-panel">
            <a:extLst xmlns:a="http://schemas.openxmlformats.org/drawingml/2006/main">
              <a:ext uri="{FF2B5EF4-FFF2-40B4-BE49-F238E27FC236}">
                <a16:creationId xmlns:a16="http://schemas.microsoft.com/office/drawing/2014/main" id="{75B459C2-1DC5-47A8-A1B3-2BA3AB17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5600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4095F-7A7D-4853-A870-E31AAF4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班级组织委员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F27E7-20A6-4FB5-A226-7E84F09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38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组织　沟通　责任　服务同学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045B8-1848-47C1-B23B-27000FBC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97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青少年宫志愿助教：陪伴、协助、服务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C0D73-8E84-402D-86CB-4D9707C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24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家乡成促会相关志愿活动：参与、协作、社会服务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29252-B9FD-4940-9CB4-D140D0F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优秀不仅是个人向上，也意味着愿意为集体和他人承担责任。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551A8-6EED-425D-B6CB-A1988A7C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7D2C7-B1DA-42AE-ABBE-E97588FB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1A6377-9A21-4169-9567-0DF1C109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志愿与责任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78939-E4A6-4452-A8C9-567EAB8E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</p:spTree>
    <p:extLst>
      <p:ext uri="{BB962C8B-B14F-4D97-AF65-F5344CB8AC3E}">
        <p14:creationId xmlns:p14="http://schemas.microsoft.com/office/powerpoint/2010/main" val="1224798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ABCE5-AF39-4DE8-A31C-BBF89F46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917F3-5269-488D-A54B-8453F60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热爱生活｜在排球场上理解团队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AB9A7-5598-4276-97ED-1B90125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D58E6-26A9-4F11-B997-2666E175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排球是我的“输出型爱好”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976C6-04EC-4C69-B51A-E08A327F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排球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093B3-2EA0-4387-81A4-3CAA59D8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A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7C6E1-00D6-4E00-8C6F-522841A9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0291D-4B26-45EF-B023-22CCF4C4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坚持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CEFAD-B3FD-43A4-8C21-9D741E7E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专注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1547C-8AB1-4916-A5B8-B1ECB1A9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在一次次训练与配合中，我学会在压力中保持专注，也更加理解团队的意义。</a:t>
            </a:r>
          </a:p>
        </p:txBody>
      </p:sp>
      <p:sp>
        <p:nvSpPr>
          <p:cNvPr id="11" name="honors-strip">
            <a:extLst xmlns:a="http://schemas.openxmlformats.org/drawingml/2006/main">
              <a:ext uri="{FF2B5EF4-FFF2-40B4-BE49-F238E27FC236}">
                <a16:creationId xmlns:a16="http://schemas.microsoft.com/office/drawing/2014/main" id="{A6CB5547-FBFC-4109-9E7A-8F264793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CB9D8-16DD-4914-AF8E-FC7C3B35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已有荣誉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D5F6B-B71A-4FBA-B4B3-218D0B6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626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校级三等奖学金　校级“三好学生”</a:t>
            </a:r>
          </a:p>
        </p:txBody>
      </p:sp>
      <p:sp>
        <p:nvSpPr>
          <p:cNvPr id="14" name="volleyball-placeholder">
            <a:extLst xmlns:a="http://schemas.openxmlformats.org/drawingml/2006/main">
              <a:ext uri="{FF2B5EF4-FFF2-40B4-BE49-F238E27FC236}">
                <a16:creationId xmlns:a16="http://schemas.microsoft.com/office/drawing/2014/main" id="{A8BAB534-D5AE-4BCE-908A-63711E7D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A8C7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0D216-0202-48D5-B116-9A395D0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0859C-0951-4C65-9AC1-3B5D7C85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5F7C5-70A6-4346-9FFA-75E133D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建议替换：排球比赛 / 训练照片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59B10-8DE4-469A-BEC0-E52B25AA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7196D-8EDF-4629-A3B3-F53CEB4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9880D-4778-47DF-A6DA-BB4F6E5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热爱与全面发展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8C467-7C16-43BF-ADA6-2C4309A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985175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4C00D-64AB-4A38-9E80-3AAD8FFD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1203C-0D95-4D0B-9FF5-E8F671CC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572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向下扎根，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向上生长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F3E04-2FDE-42C2-AD2A-9CE3A997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A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5CB4F-BEF8-4413-9202-9AA588A2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专业学习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EC4B-B941-4EA0-AB23-8CF9C13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继续夯实电气工程专业基础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177C0-67BE-4B43-B99D-D80F879A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工程实践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6D268-F0C1-45D8-9026-A63E8224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提升实践能力和解决实际问题的能力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B713F-E3F7-42EA-8835-0E45DB8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责任担当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96E8D-0AE4-4C32-ADD1-D2309492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继续服务集体、参与志愿服务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34E9C-BA85-4B2E-A5BF-03C45EF9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把优秀变成习惯，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把成长写进每一步行动。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59260-3138-4C2B-959B-8B97953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感谢各位老师！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BCF3D-7958-4E37-948B-DFE7AED7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从成绩出发，把每一步都走得更扎实。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894CA-F6DF-419A-80E2-864F374A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55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DE5B3-893B-40FF-95A7-818F77BC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B77B2-33FB-4791-B356-512CCC26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总结与未来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A0B76-6241-41F7-AEDE-D7CAED4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</p:spTree>
    <p:extLst>
      <p:ext uri="{BB962C8B-B14F-4D97-AF65-F5344CB8AC3E}">
        <p14:creationId xmlns:p14="http://schemas.microsoft.com/office/powerpoint/2010/main" val="1180599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2026-09-14T11:05:35.4910000Z</dcterms:created>
  <dcterms:modified xsi:type="dcterms:W3CDTF">2026-09-14T11:05:35.4910000Z</dcterms:modified>
</coreProperties>
</file>