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0e1fcfb41448c1" /><Relationship Type="http://schemas.openxmlformats.org/officeDocument/2006/relationships/extended-properties" Target="/docProps/app.xml" Id="R16fa8bd32e1c483f" /><Relationship Type="http://schemas.openxmlformats.org/officeDocument/2006/relationships/officeDocument" Target="/ppt/presentation.xml" Id="R546366856be146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fa9f696e004cb9"/>
  </p:sldMasterIdLst>
  <p:notesMasterIdLst>
    <p:notesMasterId xmlns:r="http://schemas.openxmlformats.org/officeDocument/2006/relationships" r:id="R3c6d5969f5da4aab"/>
  </p:notesMasterIdLst>
  <p:sldIdLst>
    <p:sldId xmlns:r="http://schemas.openxmlformats.org/officeDocument/2006/relationships" id="256" r:id="R4db842e8bd0e4195"/>
    <p:sldId xmlns:r="http://schemas.openxmlformats.org/officeDocument/2006/relationships" id="257" r:id="Reb401b47b86d4606"/>
    <p:sldId xmlns:r="http://schemas.openxmlformats.org/officeDocument/2006/relationships" id="258" r:id="R1000170381b84cc6"/>
    <p:sldId xmlns:r="http://schemas.openxmlformats.org/officeDocument/2006/relationships" id="259" r:id="Rf56191e6cd6c405b"/>
    <p:sldId xmlns:r="http://schemas.openxmlformats.org/officeDocument/2006/relationships" id="260" r:id="R3058c0d76fae47e2"/>
    <p:sldId xmlns:r="http://schemas.openxmlformats.org/officeDocument/2006/relationships" id="261" r:id="Rabfffbb20bdc45dd"/>
    <p:sldId xmlns:r="http://schemas.openxmlformats.org/officeDocument/2006/relationships" id="262" r:id="R14731b6d261d4c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7c1394c12c496f" /><Relationship Type="http://schemas.openxmlformats.org/officeDocument/2006/relationships/slideMaster" Target="/ppt/slideMasters/slideMaster1.xml" Id="R71fa9f696e004cb9" /><Relationship Type="http://schemas.openxmlformats.org/officeDocument/2006/relationships/notesMaster" Target="/ppt/notesMasters/notesMaster1.xml" Id="R3c6d5969f5da4aab" /><Relationship Type="http://schemas.openxmlformats.org/officeDocument/2006/relationships/presProps" Target="/ppt/presProps.xml" Id="Rf6995cb257534dfb" /><Relationship Type="http://schemas.openxmlformats.org/officeDocument/2006/relationships/tableStyles" Target="/ppt/tableStyles.xml" Id="R3bea87434830403c" /><Relationship Type="http://schemas.openxmlformats.org/officeDocument/2006/relationships/slide" Target="/ppt/slides/slide1.xml" Id="R4db842e8bd0e4195" /><Relationship Type="http://schemas.openxmlformats.org/officeDocument/2006/relationships/slide" Target="/ppt/slides/slide2.xml" Id="Reb401b47b86d4606" /><Relationship Type="http://schemas.openxmlformats.org/officeDocument/2006/relationships/slide" Target="/ppt/slides/slide3.xml" Id="R1000170381b84cc6" /><Relationship Type="http://schemas.openxmlformats.org/officeDocument/2006/relationships/slide" Target="/ppt/slides/slide4.xml" Id="Rf56191e6cd6c405b" /><Relationship Type="http://schemas.openxmlformats.org/officeDocument/2006/relationships/slide" Target="/ppt/slides/slide5.xml" Id="R3058c0d76fae47e2" /><Relationship Type="http://schemas.openxmlformats.org/officeDocument/2006/relationships/slide" Target="/ppt/slides/slide6.xml" Id="Rabfffbb20bdc45dd" /><Relationship Type="http://schemas.openxmlformats.org/officeDocument/2006/relationships/slide" Target="/ppt/slides/slide7.xml" Id="R14731b6d261d4c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bd35bebaf845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fc508caf724422" /><Relationship Type="http://schemas.openxmlformats.org/officeDocument/2006/relationships/notesMaster" Target="/ppt/notesMasters/notesMaster1.xml" Id="R4ccef6e838494f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c205d71de94a56" /><Relationship Type="http://schemas.openxmlformats.org/officeDocument/2006/relationships/notesMaster" Target="/ppt/notesMasters/notesMaster1.xml" Id="R3db7d65a40294b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66754cf9374932" /><Relationship Type="http://schemas.openxmlformats.org/officeDocument/2006/relationships/notesMaster" Target="/ppt/notesMasters/notesMaster1.xml" Id="R2038e7e7ba0c4f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6f7ccd2b6f4b5a" /><Relationship Type="http://schemas.openxmlformats.org/officeDocument/2006/relationships/notesMaster" Target="/ppt/notesMasters/notesMaster1.xml" Id="Rb82043fa549e41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8de4e70349415b" /><Relationship Type="http://schemas.openxmlformats.org/officeDocument/2006/relationships/notesMaster" Target="/ppt/notesMasters/notesMaster1.xml" Id="R4d26b440a6f444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3d4ca4998e4648" /><Relationship Type="http://schemas.openxmlformats.org/officeDocument/2006/relationships/notesMaster" Target="/ppt/notesMasters/notesMaster1.xml" Id="Rcdfb21e6b12943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cec9d47ba7478f" /><Relationship Type="http://schemas.openxmlformats.org/officeDocument/2006/relationships/notesMaster" Target="/ppt/notesMasters/notesMaster1.xml" Id="Rafade394112e4a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（约20秒）：各位老师好，我是智能制造与电气工程学院电气工程及其自动化专业大三学生XXX。今天汇报的主题是“向上生长，向实而行”。这一年，我的绩点从3.11提升到3.95，成绩、专业能力、责任意识和生活状态也在这个过程中逐渐形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（约35秒）：这一年可以先用几个数字来概括。我的班级学习成绩排名是3/43，综合测评排名是4/43。最明显的变化，是学年绩点从3.11提升到3.95。英语四级513分、六级473分，i志愿年度服务时长80小时以上。除了学习，我还担任班级组织委员，参加排球社团，并获得校级三等奖学金和校级三好学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（约60秒）：这一页是我想重点汇报的学习变化。24到25学年绩点是3.11，25到26学年提升到3.95，班级学习成绩排名3/43。这个提升并不是短期突击，而是我开始把预习、课堂理解、课后整理和错题复盘固定下来。专业课程中，C语言95分，模拟电子技术和数字电子技术93分，电机学92分，电力电子技术91分，机械臂相关课程93分。我更看重的是，逐渐形成了适合自己的学习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（约55秒）：这一页我想说明，专业学习正在从课程目录走向知识连接。程序设计、电子技术、电机与控制和电力电子等内容，在机械臂示教编程与同步柔性抓取实践中汇聚。相关课程成绩为93分。我的阶段性目标，是把分散的知识点逐渐连接成解决实际问题的能力。右上照片位置后续替换为真实机械臂实训或实验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（约55秒）：我有80小时以上的i志愿年度服务时长。具体经历包括青少年宫志愿助教，以及参与家乡成促会的相关活动。在班级里，我担任组织委员。这里我把经历整理成三种身份：志愿助教、社会服务和班级工作。它们让我从服务他人走到服务集体，也逐渐理解责任的重量。照片位置后续替换为真实活动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（约40秒）：排球，是我长期坚持的运动爱好。它让我在学习之外找到节奏，也让我在一次次训练和配合中理解协作、坚持和专注。在压力下保持专注、在配合中理解团队，是我从这项运动中获得的真实感受。已有校级三等奖学金和校级三好学生荣誉，以次要信息保留。右侧照片位置后续替换为真实排球训练或比赛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（约35秒）：未来，我会继续夯实电气工程专业基础，在课程学习之外提升实践能力和解决实际问题的能力，也继续服务集体、参与志愿服务。对我来说，优秀不是一次性的结果，而是把优秀变成习惯，把成长写进每一步行动。我的汇报完毕，谢谢各位老师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631f47ed346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fc5fa9af4d4021" /><Relationship Type="http://schemas.openxmlformats.org/officeDocument/2006/relationships/slideLayout" Target="/ppt/slideLayouts/slideLayout1.xml" Id="R53b56925cd5049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b56925cd5049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7c5de9f964f99" /><Relationship Type="http://schemas.openxmlformats.org/officeDocument/2006/relationships/notesSlide" Target="/ppt/notesSlides/notesSlide1.xml" Id="Rc58af388992749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eb5b19ea9472b" /><Relationship Type="http://schemas.openxmlformats.org/officeDocument/2006/relationships/notesSlide" Target="/ppt/notesSlides/notesSlide2.xml" Id="R13c6e8ce7a1a4b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9cdb7710049d1" /><Relationship Type="http://schemas.openxmlformats.org/officeDocument/2006/relationships/notesSlide" Target="/ppt/notesSlides/notesSlide3.xml" Id="R0abf680e1bef4f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d1c2055ab4c92" /><Relationship Type="http://schemas.openxmlformats.org/officeDocument/2006/relationships/notesSlide" Target="/ppt/notesSlides/notesSlide4.xml" Id="Re461e1bed18a4c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817e107024161" /><Relationship Type="http://schemas.openxmlformats.org/officeDocument/2006/relationships/notesSlide" Target="/ppt/notesSlides/notesSlide5.xml" Id="R73c1e744b1da43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507cb30b44b74" /><Relationship Type="http://schemas.openxmlformats.org/officeDocument/2006/relationships/notesSlide" Target="/ppt/notesSlides/notesSlide6.xml" Id="Ra7e1adda20f84f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a7cdb4fd14e47" /><Relationship Type="http://schemas.openxmlformats.org/officeDocument/2006/relationships/notesSlide" Target="/ppt/notesSlides/notesSlide7.xml" Id="Rfbdcc62e870547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F4B5A-1EEF-4465-9829-702CB5DA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E9AFD-88EC-409D-9477-4F8DA652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rPr>
              <a:t>国家奖学金竞选答辩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2DE4A-1EFC-487F-9E40-E02279F2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向上生长，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向实而行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35241-E822-4259-A2F1-4916368D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rPr>
              <a:t>以专业筑基 · 以实践赋能 · 以责任担当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9F18A-4667-4BFA-8AD5-B9C441D8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2907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A6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73A71-8B18-44D4-9066-15B32A56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智能制造与电气工程学院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电气工程及其自动化专业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姓名：XXX</a:t>
            </a:r>
          </a:p>
        </p:txBody>
      </p:sp>
      <p:sp>
        <p:nvSpPr>
          <p:cNvPr id="7" name="cover-photo-placeholder">
            <a:extLst xmlns:a="http://schemas.openxmlformats.org/drawingml/2006/main">
              <a:ext uri="{FF2B5EF4-FFF2-40B4-BE49-F238E27FC236}">
                <a16:creationId xmlns:a16="http://schemas.microsoft.com/office/drawing/2014/main" id="{74B7308C-8650-4385-AF73-0AEB29ED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895350"/>
            <a:ext cx="4000500" cy="4667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CF4F7"/>
          </a:solidFill>
          <a:ln xmlns:a="http://schemas.openxmlformats.org/drawingml/2006/main" w="9525">
            <a:solidFill>
              <a:srgbClr val="A8C7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4BD00-A2D4-4E08-BDBE-CAC3292B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2417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rPr>
              <a:t>PHOTO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87376-63C3-4F75-9317-A608D3C3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67075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rPr>
              <a:t>照片占位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498E9-4739-4C09-8BA3-E3087FE2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62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rPr>
              <a:t>建议替换：个人照片或校园 / 实验场景照片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68F11-2FA2-4DA8-9A32-09E29971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953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A6B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50948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8E12AE-B1DA-4EE4-B3A0-DF51DCA2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向上生长，向实而行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335AC-4DFF-42CB-805D-70DD4A5E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这一年，我用几个数字记录成长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05F07-998F-4983-9C00-08FF2D55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0C67D-5137-4DE6-B924-8DBBCFCF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先看变化，再看变化背后的方法</a:t>
            </a:r>
          </a:p>
        </p:txBody>
      </p:sp>
      <p:sp>
        <p:nvSpPr>
          <p:cNvPr id="5" name="gpa-hero">
            <a:extLst xmlns:a="http://schemas.openxmlformats.org/drawingml/2006/main">
              <a:ext uri="{FF2B5EF4-FFF2-40B4-BE49-F238E27FC236}">
                <a16:creationId xmlns:a16="http://schemas.microsoft.com/office/drawing/2014/main" id="{05161A93-7479-47B6-9D0B-2F580E7C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762500" cy="2419350"/>
          </a:xfrm>
          <a:prstGeom xmlns:a="http://schemas.openxmlformats.org/drawingml/2006/main" prst="roundRect">
            <a:avLst>
              <a:gd name="adj" fmla="val 551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0E139-6AAB-4A44-B059-B07A3555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288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rPr>
              <a:t>学年绩点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E9407-5892-4099-A730-51452B4D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BC444-329A-499D-94EB-DCC295DA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90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A760C-4CEB-4C1C-AAD4-46F2F3F5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14600"/>
            <a:ext cx="161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585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rPr>
              <a:t>3.95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01B3F-DA4D-4AC0-A74F-6115BEFC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rPr>
              <a:t>从一次成绩提升，走向稳定的学习能力</a:t>
            </a:r>
          </a:p>
        </p:txBody>
      </p:sp>
      <p:sp>
        <p:nvSpPr>
          <p:cNvPr id="11" name="class-rank">
            <a:extLst xmlns:a="http://schemas.openxmlformats.org/drawingml/2006/main">
              <a:ext uri="{FF2B5EF4-FFF2-40B4-BE49-F238E27FC236}">
                <a16:creationId xmlns:a16="http://schemas.microsoft.com/office/drawing/2014/main" id="{0FB8C251-EEE7-4E38-8400-55586D83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52625"/>
            <a:ext cx="23812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64D60-0CA0-4C58-AB7D-AF236334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240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3 / 43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AF3F1-FB2B-41A0-BB96-0644F12E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765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班级学习成绩排名</a:t>
            </a:r>
          </a:p>
        </p:txBody>
      </p:sp>
      <p:sp>
        <p:nvSpPr>
          <p:cNvPr id="14" name="assessment-rank">
            <a:extLst xmlns:a="http://schemas.openxmlformats.org/drawingml/2006/main">
              <a:ext uri="{FF2B5EF4-FFF2-40B4-BE49-F238E27FC236}">
                <a16:creationId xmlns:a16="http://schemas.microsoft.com/office/drawing/2014/main" id="{5AA08D30-9FDF-4BDB-8083-0AB532CC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23812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4B585-109B-4DDC-AC3B-43EDB3EA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240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4 / 43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C0A08-6C23-4235-BF62-632F3697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765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综合测评排名</a:t>
            </a:r>
          </a:p>
        </p:txBody>
      </p:sp>
      <p:sp>
        <p:nvSpPr>
          <p:cNvPr id="17" name="english">
            <a:extLst xmlns:a="http://schemas.openxmlformats.org/drawingml/2006/main">
              <a:ext uri="{FF2B5EF4-FFF2-40B4-BE49-F238E27FC236}">
                <a16:creationId xmlns:a16="http://schemas.microsoft.com/office/drawing/2014/main" id="{8B830AA6-5E9B-4534-A6F2-DBBA36C4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48025"/>
            <a:ext cx="23812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A5C362-F334-45D2-AAF3-5E8090B4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194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513 / 473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93562-8586-4024-8114-BB9D1D1D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71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CET-4 / CET-6</a:t>
            </a:r>
          </a:p>
        </p:txBody>
      </p:sp>
      <p:sp>
        <p:nvSpPr>
          <p:cNvPr id="20" name="volunteer-hours">
            <a:extLst xmlns:a="http://schemas.openxmlformats.org/drawingml/2006/main">
              <a:ext uri="{FF2B5EF4-FFF2-40B4-BE49-F238E27FC236}">
                <a16:creationId xmlns:a16="http://schemas.microsoft.com/office/drawing/2014/main" id="{3600D900-EDA4-4037-B371-8F7B9455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48025"/>
            <a:ext cx="23812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8DF261-D895-4C04-9A74-A348AB1B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194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80+ 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BFF877-DB2A-40F4-88D8-066C0770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71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i志愿年度服务时长</a:t>
            </a:r>
          </a:p>
        </p:txBody>
      </p:sp>
      <p:sp>
        <p:nvSpPr>
          <p:cNvPr id="23" name="identity-ribbon">
            <a:extLst xmlns:a="http://schemas.openxmlformats.org/drawingml/2006/main">
              <a:ext uri="{FF2B5EF4-FFF2-40B4-BE49-F238E27FC236}">
                <a16:creationId xmlns:a16="http://schemas.microsoft.com/office/drawing/2014/main" id="{A7D3288D-9FF9-4881-BF4E-96D76D81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9822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1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B32077-A0D2-460B-A027-DEA2FB45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720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校级三等奖学金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DA6F1C-0944-4A0C-ADF5-B6E770C7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720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校级“三好学生”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F71729-11E7-430E-BA32-BE2F5219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1720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班级组织委员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B08D3F-4708-4CB0-BD75-7C4BD9F7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720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排球社团成员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1477FD-C2A5-49D3-9E6A-50920773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学业表现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699B7D-8302-41EA-91AF-5332D62B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054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综合荣誉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BECDDA-10DC-496A-A969-2470CA16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5054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班级责任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A59687-CAE1-4FC5-A1F3-54F162DE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5054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团队生活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454431-C403-49CA-B87A-6D1F007D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051954-6C53-482E-A5AE-53B78B4F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国家奖学金竞选答辩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97B286-F374-4A6A-B16B-31E34EA3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年度概览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995C0A-0274-4AEF-B656-92FCE247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02 / 07</a:t>
            </a:r>
          </a:p>
        </p:txBody>
      </p:sp>
    </p:spTree>
    <p:extLst>
      <p:ext uri="{BB962C8B-B14F-4D97-AF65-F5344CB8AC3E}">
        <p14:creationId xmlns:p14="http://schemas.microsoft.com/office/powerpoint/2010/main" val="4713296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FF92D5-ED14-423A-BBA6-02A8D5A6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向上生长，向实而行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0EA6E-5F05-49CE-83B1-E2FACC51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以学为本｜从3.11到3.95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5A5CE-126A-442D-9D27-60571107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85CC9-4116-43E8-B9BF-81086CDA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从成绩变化，看到学习方法逐渐稳定</a:t>
            </a:r>
          </a:p>
        </p:txBody>
      </p:sp>
      <p:sp>
        <p:nvSpPr>
          <p:cNvPr id="5" name="gpa-growth-panel">
            <a:extLst xmlns:a="http://schemas.openxmlformats.org/drawingml/2006/main">
              <a:ext uri="{FF2B5EF4-FFF2-40B4-BE49-F238E27FC236}">
                <a16:creationId xmlns:a16="http://schemas.microsoft.com/office/drawing/2014/main" id="{3025538C-17EA-4720-8EA8-2370AA67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000500" cy="3829050"/>
          </a:xfrm>
          <a:prstGeom xmlns:a="http://schemas.openxmlformats.org/drawingml/2006/main" prst="roundRect">
            <a:avLst>
              <a:gd name="adj" fmla="val 348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9D976-1344-481B-97CE-E5FDE592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24–25 学年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75136-4793-447E-8943-39D21361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41310-9CD6-4838-A11C-44FB118D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47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25–26 学年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7FA40-7884-48A3-86DA-E8BC52CC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527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5250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3.95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5A1C4-CD28-4F22-B7D0-3A532768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+0.84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90F5E-F5C0-4591-925D-851E47C8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05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成绩排名 3 / 43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B37E0-7CA4-40A4-BAC6-A854CBD5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526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专业核心课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03F54-899B-4760-8C14-1E0775FC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43150"/>
            <a:ext cx="544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程序与智能制造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D1F10E-F963-4D76-95ED-25199C30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289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rPr>
              <a:t>C语言程序设计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2869B1-547A-4108-A99B-8A5A6295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289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D7BC95-508F-4800-A55C-7570684F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718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E83926-301B-441B-8975-0CA10E67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480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rPr>
              <a:t>机械臂示教编程与同步柔性抓取系统软件设计与制作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46804-065D-4300-8B90-CFFAC1CA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480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93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81B76-2CE7-4D6F-88A8-7AD07660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C57FE-C3E2-4AFE-9813-73A397EA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544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电子技术基础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E23F1D-102B-4AF5-B0D3-69A57272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100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rPr>
              <a:t>模拟电子技术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400942-9D22-4C70-83A2-E53F8EB2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8100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93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712AD5-F69D-423E-A291-7B9B0BA0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529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FE8B0C-733A-4159-A244-64AB37F5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291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rPr>
              <a:t>数字电子技术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E8A8EF-3435-4F0B-8F43-39E0CD2C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291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93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52D6B8-9A47-48B1-B5ED-BC2EFAD3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720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532C5D-06B6-4752-BB65-DEA85FF9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05350"/>
            <a:ext cx="544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电气专业核心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8F7515-F69B-4D21-8CDE-DE2C1F8D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911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rPr>
              <a:t>电机学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6A9843-6C70-4D87-A231-D0CB0E60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911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92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58CC90-A88B-44A2-BEEA-CBAF9B36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340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299F09-FEAF-4A71-99BD-35EE75C9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102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rPr>
              <a:t>电力电子技术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A9AEAA-5CCF-4EFB-98E2-0FB0935D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4102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91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F1C0CF-C53E-410D-BB25-9BDA00D6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531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E36AEB-87C2-456B-9B77-5D3A8FB0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876925"/>
            <a:ext cx="544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1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1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比结果更重要的，是逐渐找到适合自己的学习方法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9E89A7-4248-4BE3-AD38-5C7ED5A9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FE6901-079E-43C0-A954-6F1ACF7B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国家奖学金竞选答辩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59C8BE-F779-44A7-AF43-F65B7016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学习成长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10E253-1B92-48C2-865B-9415E3A7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03 / 07</a:t>
            </a:r>
          </a:p>
        </p:txBody>
      </p:sp>
      <p:sp>
        <p:nvSpPr>
          <p:cNvPr id="44" name="gpa-upper-right-arrow">
            <a:extLst xmlns:a="http://schemas.openxmlformats.org/drawingml/2006/main">
              <a:ext uri="{FF2B5EF4-FFF2-40B4-BE49-F238E27FC236}">
                <a16:creationId xmlns:a16="http://schemas.microsoft.com/office/drawing/2014/main" id="{2479F677-5E72-4C2E-8D73-478BEEB8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099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0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19671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EB87EF-B6EF-4E71-9A05-EEBC8F89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向上生长，向实而行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8C755-7AFE-4A19-A0B2-059D95BC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学以致用｜从“学会”走向“会做”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9F12F-D0B3-489D-ACC0-8E814A7D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8D1CE-5337-4E58-993E-52D2E01C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把分散的知识点，逐渐连接成解决实际问题的能力。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CF542-387C-4AB1-8C90-8A38654D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机械臂示教编程与同步柔性抓取系统软件设计与制作</a:t>
            </a:r>
          </a:p>
        </p:txBody>
      </p:sp>
      <p:sp>
        <p:nvSpPr>
          <p:cNvPr id="8" name="robot-practice-placeholder">
            <a:extLst xmlns:a="http://schemas.openxmlformats.org/drawingml/2006/main">
              <a:ext uri="{FF2B5EF4-FFF2-40B4-BE49-F238E27FC236}">
                <a16:creationId xmlns:a16="http://schemas.microsoft.com/office/drawing/2014/main" id="{763335C5-BBD5-477D-8915-9BAC5735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00200"/>
            <a:ext cx="276225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1F6FF"/>
          </a:solidFill>
          <a:ln xmlns:a="http://schemas.openxmlformats.org/drawingml/2006/main" w="9525">
            <a:solidFill>
              <a:srgbClr val="AFC8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CBD8A-BA89-4A99-BC46-34520AB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764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rPr>
              <a:t>PHOTO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31C5C-C9BB-4402-8169-D0033D67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193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rPr>
              <a:t>照片占位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FB040-DC94-4BE9-8626-F6B89A15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5750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rPr>
              <a:t>建议替换：机械臂实训照片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7DFAB-0F0A-40F8-A715-F4A31624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我希望把每一门课学到的内容，真正接到实践中。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EF2260-37C8-4C8A-A73A-DFB1926C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AA7B33-B0E4-406E-9C8A-F30BFD18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国家奖学金竞选答辩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429348-8558-4B3C-A0EB-068E773D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专业实践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1A489C-3094-4247-A922-B437A3A1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04 / 07</a:t>
            </a:r>
          </a:p>
        </p:txBody>
      </p:sp>
      <p:sp>
        <p:nvSpPr>
          <p:cNvPr id="39" name="knowledge-input-label">
            <a:extLst xmlns:a="http://schemas.openxmlformats.org/drawingml/2006/main">
              <a:ext uri="{FF2B5EF4-FFF2-40B4-BE49-F238E27FC236}">
                <a16:creationId xmlns:a16="http://schemas.microsoft.com/office/drawing/2014/main" id="{06068087-8B5C-4DC6-8A5E-84CAAD8B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课程知识</a:t>
            </a:r>
          </a:p>
        </p:txBody>
      </p:sp>
      <p:sp>
        <p:nvSpPr>
          <p:cNvPr id="40" name="knowledge-source-1">
            <a:extLst xmlns:a="http://schemas.openxmlformats.org/drawingml/2006/main">
              <a:ext uri="{FF2B5EF4-FFF2-40B4-BE49-F238E27FC236}">
                <a16:creationId xmlns:a16="http://schemas.microsoft.com/office/drawing/2014/main" id="{C106C82C-DF49-4429-AF64-BCA803A0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程序设计</a:t>
            </a:r>
          </a:p>
        </p:txBody>
      </p:sp>
      <p:sp>
        <p:nvSpPr>
          <p:cNvPr id="41" name="knowledge-line-1">
            <a:extLst xmlns:a="http://schemas.openxmlformats.org/drawingml/2006/main">
              <a:ext uri="{FF2B5EF4-FFF2-40B4-BE49-F238E27FC236}">
                <a16:creationId xmlns:a16="http://schemas.microsoft.com/office/drawing/2014/main" id="{C7AC2AD3-7D2D-4C96-8B32-5D69643E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86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BD8"/>
            </a:solidFill>
            <a:prstDash val="solid"/>
          </a:ln>
        </p:spPr>
      </p:sp>
      <p:sp>
        <p:nvSpPr>
          <p:cNvPr id="42" name="knowledge-source-2">
            <a:extLst xmlns:a="http://schemas.openxmlformats.org/drawingml/2006/main">
              <a:ext uri="{FF2B5EF4-FFF2-40B4-BE49-F238E27FC236}">
                <a16:creationId xmlns:a16="http://schemas.microsoft.com/office/drawing/2014/main" id="{E6E52ABC-0521-4746-A45E-FD9553C9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电子技术</a:t>
            </a:r>
          </a:p>
        </p:txBody>
      </p:sp>
      <p:sp>
        <p:nvSpPr>
          <p:cNvPr id="43" name="knowledge-line-2">
            <a:extLst xmlns:a="http://schemas.openxmlformats.org/drawingml/2006/main">
              <a:ext uri="{FF2B5EF4-FFF2-40B4-BE49-F238E27FC236}">
                <a16:creationId xmlns:a16="http://schemas.microsoft.com/office/drawing/2014/main" id="{D45C0472-655E-40A6-A114-A323EC95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814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BD8"/>
            </a:solidFill>
            <a:prstDash val="solid"/>
          </a:ln>
        </p:spPr>
      </p:sp>
      <p:sp>
        <p:nvSpPr>
          <p:cNvPr id="44" name="knowledge-source-3">
            <a:extLst xmlns:a="http://schemas.openxmlformats.org/drawingml/2006/main">
              <a:ext uri="{FF2B5EF4-FFF2-40B4-BE49-F238E27FC236}">
                <a16:creationId xmlns:a16="http://schemas.microsoft.com/office/drawing/2014/main" id="{D1851577-AAC3-4DBC-95BC-1F9C6914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电机与控制</a:t>
            </a:r>
          </a:p>
        </p:txBody>
      </p:sp>
      <p:sp>
        <p:nvSpPr>
          <p:cNvPr id="45" name="knowledge-line-3">
            <a:extLst xmlns:a="http://schemas.openxmlformats.org/drawingml/2006/main">
              <a:ext uri="{FF2B5EF4-FFF2-40B4-BE49-F238E27FC236}">
                <a16:creationId xmlns:a16="http://schemas.microsoft.com/office/drawing/2014/main" id="{36272F7F-2FD9-42B6-9EE9-63D19718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BD8"/>
            </a:solidFill>
            <a:prstDash val="solid"/>
          </a:ln>
        </p:spPr>
      </p:sp>
      <p:sp>
        <p:nvSpPr>
          <p:cNvPr id="46" name="knowledge-source-4">
            <a:extLst xmlns:a="http://schemas.openxmlformats.org/drawingml/2006/main">
              <a:ext uri="{FF2B5EF4-FFF2-40B4-BE49-F238E27FC236}">
                <a16:creationId xmlns:a16="http://schemas.microsoft.com/office/drawing/2014/main" id="{F074B456-F3B9-43E0-8867-96D13765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电力电子</a:t>
            </a:r>
          </a:p>
        </p:txBody>
      </p:sp>
      <p:sp>
        <p:nvSpPr>
          <p:cNvPr id="47" name="knowledge-line-4">
            <a:extLst xmlns:a="http://schemas.openxmlformats.org/drawingml/2006/main">
              <a:ext uri="{FF2B5EF4-FFF2-40B4-BE49-F238E27FC236}">
                <a16:creationId xmlns:a16="http://schemas.microsoft.com/office/drawing/2014/main" id="{55E38127-690B-4487-AAD1-B6BC5490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720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BD8"/>
            </a:solidFill>
            <a:prstDash val="solid"/>
          </a:ln>
        </p:spPr>
      </p:sp>
      <p:sp>
        <p:nvSpPr>
          <p:cNvPr id="48" name="knowledge-hub">
            <a:extLst xmlns:a="http://schemas.openxmlformats.org/drawingml/2006/main">
              <a:ext uri="{FF2B5EF4-FFF2-40B4-BE49-F238E27FC236}">
                <a16:creationId xmlns:a16="http://schemas.microsoft.com/office/drawing/2014/main" id="{30533825-6A16-497C-87B0-F6114948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81425"/>
            <a:ext cx="1314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4F6"/>
          </a:solidFill>
          <a:ln xmlns:a="http://schemas.openxmlformats.org/drawingml/2006/main" w="9525">
            <a:solidFill>
              <a:srgbClr val="25A6B8"/>
            </a:solidFill>
            <a:prstDash val="solid"/>
          </a:ln>
        </p:spPr>
      </p:sp>
      <p:sp>
        <p:nvSpPr>
          <p:cNvPr id="49" name="knowledge-hub-label">
            <a:extLst xmlns:a="http://schemas.openxmlformats.org/drawingml/2006/main">
              <a:ext uri="{FF2B5EF4-FFF2-40B4-BE49-F238E27FC236}">
                <a16:creationId xmlns:a16="http://schemas.microsoft.com/office/drawing/2014/main" id="{3D4C803B-246B-42E6-BE96-7A80E321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10025"/>
            <a:ext cx="895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8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知识</a:t>
            </a:r>
          </a:p>
          <a:p xmlns:a="http://schemas.openxmlformats.org/drawingml/2006/main">
            <a:pPr algn="ctr">
              <a:lnSpc>
                <a:spcPct val="98000"/>
              </a:lnSpc>
              <a:buNone/>
              <a:defRPr sz="18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汇聚</a:t>
            </a:r>
          </a:p>
        </p:txBody>
      </p:sp>
      <p:sp>
        <p:nvSpPr>
          <p:cNvPr id="50" name="knowledge-practice-arrow">
            <a:extLst xmlns:a="http://schemas.openxmlformats.org/drawingml/2006/main">
              <a:ext uri="{FF2B5EF4-FFF2-40B4-BE49-F238E27FC236}">
                <a16:creationId xmlns:a16="http://schemas.microsoft.com/office/drawing/2014/main" id="{C7659633-168A-499F-BB4A-6C2285E0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3385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A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ractice-focus-block">
            <a:extLst xmlns:a="http://schemas.openxmlformats.org/drawingml/2006/main">
              <a:ext uri="{FF2B5EF4-FFF2-40B4-BE49-F238E27FC236}">
                <a16:creationId xmlns:a16="http://schemas.microsoft.com/office/drawing/2014/main" id="{440818F4-4A95-481D-97AB-9F766BC4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62350"/>
            <a:ext cx="44767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ractice-focus-label">
            <a:extLst xmlns:a="http://schemas.openxmlformats.org/drawingml/2006/main">
              <a:ext uri="{FF2B5EF4-FFF2-40B4-BE49-F238E27FC236}">
                <a16:creationId xmlns:a16="http://schemas.microsoft.com/office/drawing/2014/main" id="{F7BDDFD7-B85E-4155-99BC-1C47D485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814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rPr>
              <a:t>工程实践</a:t>
            </a:r>
          </a:p>
        </p:txBody>
      </p:sp>
      <p:sp>
        <p:nvSpPr>
          <p:cNvPr id="53" name="practice-focus-title">
            <a:extLst xmlns:a="http://schemas.openxmlformats.org/drawingml/2006/main">
              <a:ext uri="{FF2B5EF4-FFF2-40B4-BE49-F238E27FC236}">
                <a16:creationId xmlns:a16="http://schemas.microsoft.com/office/drawing/2014/main" id="{8E6C5E45-1C01-44C5-9274-B3D94F9E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862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机械臂示教编程与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同步柔性抓取实践</a:t>
            </a:r>
          </a:p>
        </p:txBody>
      </p:sp>
      <p:sp>
        <p:nvSpPr>
          <p:cNvPr id="54" name="practice-focus-score">
            <a:extLst xmlns:a="http://schemas.openxmlformats.org/drawingml/2006/main">
              <a:ext uri="{FF2B5EF4-FFF2-40B4-BE49-F238E27FC236}">
                <a16:creationId xmlns:a16="http://schemas.microsoft.com/office/drawing/2014/main" id="{13A64EB7-C788-4167-ABA9-561C7A0E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33825"/>
            <a:ext cx="1000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9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rPr>
              <a:t>93</a:t>
            </a:r>
          </a:p>
        </p:txBody>
      </p:sp>
      <p:sp>
        <p:nvSpPr>
          <p:cNvPr id="55" name="practice-focus-score-label">
            <a:extLst xmlns:a="http://schemas.openxmlformats.org/drawingml/2006/main">
              <a:ext uri="{FF2B5EF4-FFF2-40B4-BE49-F238E27FC236}">
                <a16:creationId xmlns:a16="http://schemas.microsoft.com/office/drawing/2014/main" id="{71A1B5D9-5AEA-4D83-BC4F-E1AD4D06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5295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rPr>
              <a:t>课程成绩</a:t>
            </a:r>
          </a:p>
        </p:txBody>
      </p:sp>
    </p:spTree>
    <p:extLst>
      <p:ext uri="{BB962C8B-B14F-4D97-AF65-F5344CB8AC3E}">
        <p14:creationId xmlns:p14="http://schemas.microsoft.com/office/powerpoint/2010/main" val="4913515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7AB09C-6B6B-4E4D-B213-9F5CB2A0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向上生长，向实而行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F18F3-80A8-4AF5-AC6D-8BDBCBE5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躬身服务｜让成长不只属于自己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851D6-F92E-4A60-A110-3195D9C7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B4AF9-59C0-493D-9AD5-87B6344A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参与集体，也在具体的事情里练习责任</a:t>
            </a:r>
          </a:p>
        </p:txBody>
      </p:sp>
      <p:sp>
        <p:nvSpPr>
          <p:cNvPr id="5" name="volunteer-hours-panel">
            <a:extLst xmlns:a="http://schemas.openxmlformats.org/drawingml/2006/main">
              <a:ext uri="{FF2B5EF4-FFF2-40B4-BE49-F238E27FC236}">
                <a16:creationId xmlns:a16="http://schemas.microsoft.com/office/drawing/2014/main" id="{A452948D-5578-4E52-B58D-B2F96806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52425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AF3B8-498E-4F4C-9E9F-D490C7FD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76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rPr>
              <a:t>80+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634DF-7DDD-4236-86C1-1D6E9EF1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48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HOURS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B472E-340A-4FE8-BF58-EDE58091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rPr>
              <a:t>i志愿年度服务时长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F6C51-05F3-40D3-8BB8-B25E9828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0075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rPr>
              <a:t>在具体服务中，我学会把小事做好</a:t>
            </a:r>
          </a:p>
        </p:txBody>
      </p:sp>
      <p:sp>
        <p:nvSpPr>
          <p:cNvPr id="10" name="youth-palace-placeholder">
            <a:extLst xmlns:a="http://schemas.openxmlformats.org/drawingml/2006/main">
              <a:ext uri="{FF2B5EF4-FFF2-40B4-BE49-F238E27FC236}">
                <a16:creationId xmlns:a16="http://schemas.microsoft.com/office/drawing/2014/main" id="{252BC214-0955-4970-A4D3-4CB930FA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76450"/>
            <a:ext cx="266700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1F6FF"/>
          </a:solidFill>
          <a:ln xmlns:a="http://schemas.openxmlformats.org/drawingml/2006/main" w="9525">
            <a:solidFill>
              <a:srgbClr val="AFC8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CEDB5-1091-4991-A7BD-DACA9E3A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rPr>
              <a:t>PHOTO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9EA06-6F14-4B0E-A901-D9A1FA05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718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rPr>
              <a:t>照片占位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05897-8664-4648-810F-6796F8EE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90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B87AA"/>
                </a:solidFill>
                <a:latin typeface="Microsoft YaHei"/>
                <a:ea typeface="Microsoft YaHei"/>
                <a:cs typeface="Microsoft YaHei"/>
              </a:rPr>
              <a:t>建议替换：青少年宫志愿照片</a:t>
            </a:r>
          </a:p>
        </p:txBody>
      </p:sp>
      <p:sp>
        <p:nvSpPr>
          <p:cNvPr id="14" name="association-placeholder">
            <a:extLst xmlns:a="http://schemas.openxmlformats.org/drawingml/2006/main">
              <a:ext uri="{FF2B5EF4-FFF2-40B4-BE49-F238E27FC236}">
                <a16:creationId xmlns:a16="http://schemas.microsoft.com/office/drawing/2014/main" id="{0520EE5D-4D6C-4672-B4FB-74E6CAA1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76450"/>
            <a:ext cx="266700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DDF4F6"/>
          </a:solidFill>
          <a:ln xmlns:a="http://schemas.openxmlformats.org/drawingml/2006/main" w="9525">
            <a:solidFill>
              <a:srgbClr val="A8C7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FA107-3E40-4A44-AFFE-7B778116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rPr>
              <a:t>PHOTO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F5909-5A30-4990-9A6B-9F115847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718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rPr>
              <a:t>照片占位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574C9-EA7B-4544-A6C6-64254A66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90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rPr>
              <a:t>建议替换：家乡成促会活动照片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7551A8-6EED-425D-B6CB-A1988A7C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D7D2C7-B1DA-42AE-ABBE-E97588FB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国家奖学金竞选答辩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1A6377-9A21-4169-9567-0DF1C109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志愿与责任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878939-E4A6-4452-A8C9-567EAB8E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05 / 07</a:t>
            </a:r>
          </a:p>
        </p:txBody>
      </p:sp>
      <p:sp>
        <p:nvSpPr>
          <p:cNvPr id="29" name="identity-module-rule">
            <a:extLst xmlns:a="http://schemas.openxmlformats.org/drawingml/2006/main">
              <a:ext uri="{FF2B5EF4-FFF2-40B4-BE49-F238E27FC236}">
                <a16:creationId xmlns:a16="http://schemas.microsoft.com/office/drawing/2014/main" id="{CDA4BDDA-6C8A-4CC8-965E-E2256D05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81450"/>
            <a:ext cx="560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30" name="identity-volunteer-number">
            <a:extLst xmlns:a="http://schemas.openxmlformats.org/drawingml/2006/main">
              <a:ext uri="{FF2B5EF4-FFF2-40B4-BE49-F238E27FC236}">
                <a16:creationId xmlns:a16="http://schemas.microsoft.com/office/drawing/2014/main" id="{94AD2861-633F-4094-9FA3-69083938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71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1" name="identity-volunteer-title">
            <a:extLst xmlns:a="http://schemas.openxmlformats.org/drawingml/2006/main">
              <a:ext uri="{FF2B5EF4-FFF2-40B4-BE49-F238E27FC236}">
                <a16:creationId xmlns:a16="http://schemas.microsoft.com/office/drawing/2014/main" id="{BE69095E-983B-4AE6-AE87-1C4DA1E7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00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志愿助教</a:t>
            </a:r>
          </a:p>
        </p:txBody>
      </p:sp>
      <p:sp>
        <p:nvSpPr>
          <p:cNvPr id="32" name="identity-volunteer-place">
            <a:extLst xmlns:a="http://schemas.openxmlformats.org/drawingml/2006/main">
              <a:ext uri="{FF2B5EF4-FFF2-40B4-BE49-F238E27FC236}">
                <a16:creationId xmlns:a16="http://schemas.microsoft.com/office/drawing/2014/main" id="{FE570B12-8EA3-48E6-B947-FEEAEE3C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148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青少年宫</a:t>
            </a:r>
          </a:p>
        </p:txBody>
      </p:sp>
      <p:sp>
        <p:nvSpPr>
          <p:cNvPr id="33" name="identity-volunteer-keywords">
            <a:extLst xmlns:a="http://schemas.openxmlformats.org/drawingml/2006/main">
              <a:ext uri="{FF2B5EF4-FFF2-40B4-BE49-F238E27FC236}">
                <a16:creationId xmlns:a16="http://schemas.microsoft.com/office/drawing/2014/main" id="{57829AC7-D267-4855-9C2D-28DC0DE3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01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陪伴　协助　服务</a:t>
            </a:r>
          </a:p>
        </p:txBody>
      </p:sp>
      <p:sp>
        <p:nvSpPr>
          <p:cNvPr id="34" name="identity-association-number">
            <a:extLst xmlns:a="http://schemas.openxmlformats.org/drawingml/2006/main">
              <a:ext uri="{FF2B5EF4-FFF2-40B4-BE49-F238E27FC236}">
                <a16:creationId xmlns:a16="http://schemas.microsoft.com/office/drawing/2014/main" id="{921E37F9-703D-48C2-9C77-408AA792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71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5" name="identity-association-title">
            <a:extLst xmlns:a="http://schemas.openxmlformats.org/drawingml/2006/main">
              <a:ext uri="{FF2B5EF4-FFF2-40B4-BE49-F238E27FC236}">
                <a16:creationId xmlns:a16="http://schemas.microsoft.com/office/drawing/2014/main" id="{EEC19D6A-FEFE-4C6C-AE10-87CFDA82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00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社会服务</a:t>
            </a:r>
          </a:p>
        </p:txBody>
      </p:sp>
      <p:sp>
        <p:nvSpPr>
          <p:cNvPr id="36" name="identity-association-place">
            <a:extLst xmlns:a="http://schemas.openxmlformats.org/drawingml/2006/main">
              <a:ext uri="{FF2B5EF4-FFF2-40B4-BE49-F238E27FC236}">
                <a16:creationId xmlns:a16="http://schemas.microsoft.com/office/drawing/2014/main" id="{38775922-61E2-40F6-8475-FAB29C0E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148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家乡成促会</a:t>
            </a:r>
          </a:p>
        </p:txBody>
      </p:sp>
      <p:sp>
        <p:nvSpPr>
          <p:cNvPr id="37" name="identity-association-keywords">
            <a:extLst xmlns:a="http://schemas.openxmlformats.org/drawingml/2006/main">
              <a:ext uri="{FF2B5EF4-FFF2-40B4-BE49-F238E27FC236}">
                <a16:creationId xmlns:a16="http://schemas.microsoft.com/office/drawing/2014/main" id="{A2826F7C-6D5F-4FC8-90F2-F53DB000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1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参与　协作　实践</a:t>
            </a:r>
          </a:p>
        </p:txBody>
      </p:sp>
      <p:sp>
        <p:nvSpPr>
          <p:cNvPr id="38" name="identity-class-number">
            <a:extLst xmlns:a="http://schemas.openxmlformats.org/drawingml/2006/main">
              <a:ext uri="{FF2B5EF4-FFF2-40B4-BE49-F238E27FC236}">
                <a16:creationId xmlns:a16="http://schemas.microsoft.com/office/drawing/2014/main" id="{70EDE990-16C5-4E4D-BCC4-CAB3C31D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71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9" name="identity-class-title">
            <a:extLst xmlns:a="http://schemas.openxmlformats.org/drawingml/2006/main">
              <a:ext uri="{FF2B5EF4-FFF2-40B4-BE49-F238E27FC236}">
                <a16:creationId xmlns:a16="http://schemas.microsoft.com/office/drawing/2014/main" id="{8DC7BBE8-DA97-47EC-AF3C-1B2A1458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00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班级工作</a:t>
            </a:r>
          </a:p>
        </p:txBody>
      </p:sp>
      <p:sp>
        <p:nvSpPr>
          <p:cNvPr id="40" name="identity-class-place">
            <a:extLst xmlns:a="http://schemas.openxmlformats.org/drawingml/2006/main">
              <a:ext uri="{FF2B5EF4-FFF2-40B4-BE49-F238E27FC236}">
                <a16:creationId xmlns:a16="http://schemas.microsoft.com/office/drawing/2014/main" id="{8AEB3568-40EF-4BBA-878F-5CEDEDAD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148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组织委员</a:t>
            </a:r>
          </a:p>
        </p:txBody>
      </p:sp>
      <p:sp>
        <p:nvSpPr>
          <p:cNvPr id="41" name="identity-class-keywords">
            <a:extLst xmlns:a="http://schemas.openxmlformats.org/drawingml/2006/main">
              <a:ext uri="{FF2B5EF4-FFF2-40B4-BE49-F238E27FC236}">
                <a16:creationId xmlns:a16="http://schemas.microsoft.com/office/drawing/2014/main" id="{BD764464-B3E4-457C-B3CD-9D412E3F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1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组织　沟通　责任</a:t>
            </a:r>
          </a:p>
        </p:txBody>
      </p:sp>
      <p:sp>
        <p:nvSpPr>
          <p:cNvPr id="42" name="identity-divider-1">
            <a:extLst xmlns:a="http://schemas.openxmlformats.org/drawingml/2006/main">
              <a:ext uri="{FF2B5EF4-FFF2-40B4-BE49-F238E27FC236}">
                <a16:creationId xmlns:a16="http://schemas.microsoft.com/office/drawing/2014/main" id="{2F2BC376-C6D3-480B-A3B9-FC6C5EE0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43" name="identity-divider-2">
            <a:extLst xmlns:a="http://schemas.openxmlformats.org/drawingml/2006/main">
              <a:ext uri="{FF2B5EF4-FFF2-40B4-BE49-F238E27FC236}">
                <a16:creationId xmlns:a16="http://schemas.microsoft.com/office/drawing/2014/main" id="{6126ECFF-8D88-41EF-A1EF-79BA1C77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44" name="responsibility-close">
            <a:extLst xmlns:a="http://schemas.openxmlformats.org/drawingml/2006/main">
              <a:ext uri="{FF2B5EF4-FFF2-40B4-BE49-F238E27FC236}">
                <a16:creationId xmlns:a16="http://schemas.microsoft.com/office/drawing/2014/main" id="{583DEF6C-4BAA-40B3-8DCB-373DE80F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52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从服务他人，到服务集体，我逐渐理解责任的重量。</a:t>
            </a:r>
          </a:p>
        </p:txBody>
      </p:sp>
    </p:spTree>
    <p:extLst>
      <p:ext uri="{BB962C8B-B14F-4D97-AF65-F5344CB8AC3E}">
        <p14:creationId xmlns:p14="http://schemas.microsoft.com/office/powerpoint/2010/main" val="12247981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ABCE5-AF39-4DE8-A31C-BBF89F46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向上生长，向实而行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917F3-5269-488D-A54B-8453F600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热爱生活｜在排球场上理解团队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AB9A7-5598-4276-97ED-1B901257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D58E6-26A9-4F11-B997-2666E175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476"/>
                </a:solidFill>
                <a:latin typeface="Microsoft YaHei"/>
                <a:ea typeface="Microsoft YaHei"/>
                <a:cs typeface="Microsoft YaHei"/>
              </a:rPr>
              <a:t>排球，是我长期坚持的运动爱好。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976C6-04EC-4C69-B51A-E08A327F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排球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093B3-2EA0-4387-81A4-3CAA59D8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A6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7C6E1-00D6-4E00-8C6F-522841A9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2D7FF9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0291D-4B26-45EF-B023-22CCF4C4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坚持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CEFAD-B3FD-43A4-8C21-9D741E7E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专注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1547C-8AB1-4916-A5B8-B1ECB1A9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C2C3D"/>
                </a:solidFill>
                <a:latin typeface="Microsoft YaHei"/>
                <a:ea typeface="Microsoft YaHei"/>
                <a:cs typeface="Microsoft YaHei"/>
              </a:rPr>
              <a:t>在一次次训练与配合中，我学会在压力中保持专注，也更加理解协作与团队的意义。</a:t>
            </a:r>
          </a:p>
        </p:txBody>
      </p:sp>
      <p:sp>
        <p:nvSpPr>
          <p:cNvPr id="11" name="honors-strip">
            <a:extLst xmlns:a="http://schemas.openxmlformats.org/drawingml/2006/main">
              <a:ext uri="{FF2B5EF4-FFF2-40B4-BE49-F238E27FC236}">
                <a16:creationId xmlns:a16="http://schemas.microsoft.com/office/drawing/2014/main" id="{A6CB5547-FBFC-4109-9E7A-8F264793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44767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CB9D8-16DD-4914-AF8E-FC7C3B35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5A6B8"/>
                </a:solidFill>
                <a:latin typeface="Microsoft YaHei"/>
                <a:ea typeface="Microsoft YaHei"/>
                <a:cs typeface="Microsoft YaHei"/>
              </a:rPr>
              <a:t>已有荣誉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D5F6B-B71A-4FBA-B4B3-218D0B66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6260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校级三等奖学金　校级“三好学生”</a:t>
            </a:r>
          </a:p>
        </p:txBody>
      </p:sp>
      <p:sp>
        <p:nvSpPr>
          <p:cNvPr id="14" name="volleyball-placeholder">
            <a:extLst xmlns:a="http://schemas.openxmlformats.org/drawingml/2006/main">
              <a:ext uri="{FF2B5EF4-FFF2-40B4-BE49-F238E27FC236}">
                <a16:creationId xmlns:a16="http://schemas.microsoft.com/office/drawing/2014/main" id="{A8BAB534-D5AE-4BCE-908A-63711E7D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4953000" cy="4000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A8C7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0D216-0202-48D5-B116-9A395D06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rPr>
              <a:t>PHOTO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0859C-0951-4C65-9AC1-3B5D7C85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rPr>
              <a:t>照片占位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5F7C5-70A6-4346-9FFA-75E133D9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102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38392"/>
                </a:solidFill>
                <a:latin typeface="Microsoft YaHei"/>
                <a:ea typeface="Microsoft YaHei"/>
                <a:cs typeface="Microsoft YaHei"/>
              </a:rPr>
              <a:t>建议替换：排球比赛 / 训练照片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59B10-8DE4-469A-BEC0-E52B25AA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57196D-8EDF-4629-A3B3-F53CEB4F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国家奖学金竞选答辩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9880D-4778-47DF-A6DA-BB4F6E57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热爱与全面发展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78C467-7C16-43BF-ADA6-2C4309AC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718193"/>
                </a:solidFill>
                <a:latin typeface="Microsoft YaHei"/>
                <a:ea typeface="Microsoft YaHei"/>
                <a:cs typeface="Microsoft YaHei"/>
              </a:rPr>
              <a:t>06 / 07</a:t>
            </a:r>
          </a:p>
        </p:txBody>
      </p:sp>
    </p:spTree>
    <p:extLst>
      <p:ext uri="{BB962C8B-B14F-4D97-AF65-F5344CB8AC3E}">
        <p14:creationId xmlns:p14="http://schemas.microsoft.com/office/powerpoint/2010/main" val="9851755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4C00D-64AB-4A38-9E80-3AAD8FFD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rPr>
              <a:t>国家奖学金竞选答辩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1203C-0D95-4D0B-9FF5-E8F671CC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572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向下扎根，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向上生长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F3E04-2FDE-42C2-AD2A-9CE3A997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A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5CB4F-BEF8-4413-9202-9AA588A2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rPr>
              <a:t>专业学习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AEC4B-B941-4EA0-AB23-8CF9C139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rPr>
              <a:t>继续夯实电气工程专业基础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177C0-67BE-4B43-B99D-D80F879A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rPr>
              <a:t>工程实践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6D268-F0C1-45D8-9026-A63E8224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rPr>
              <a:t>提升实践能力和解决实际问题的能力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B713F-E3F7-42EA-8835-0E45DB82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rPr>
              <a:t>责任担当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96E8D-0AE4-4C32-ADD1-D2309492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D7E5F0"/>
                </a:solidFill>
                <a:latin typeface="Microsoft YaHei"/>
                <a:ea typeface="Microsoft YaHei"/>
                <a:cs typeface="Microsoft YaHei"/>
              </a:rPr>
              <a:t>继续服务集体、参与志愿服务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34E9C-BA85-4B2E-A5BF-03C45EF9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561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把优秀变成习惯，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把成长写进每一步行动。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59260-3138-4C2B-959B-8B97953D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8EE0E0"/>
                </a:solidFill>
                <a:latin typeface="Microsoft YaHei"/>
                <a:ea typeface="Microsoft YaHei"/>
                <a:cs typeface="Microsoft YaHei"/>
              </a:rPr>
              <a:t>感谢各位老师！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BCF3D-7958-4E37-948B-DFE7AED7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rPr>
              <a:t>从成绩出发，把每一步都走得更扎实。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894CA-F6DF-419A-80E2-864F374A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55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DE5B3-893B-40FF-95A7-818F77BC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rPr>
              <a:t>国家奖学金竞选答辩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B77B2-33FB-4791-B356-512CCC26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rPr>
              <a:t>总结与未来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A0B76-6241-41F7-AEDE-D7CAED4F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B9D0E6"/>
                </a:solidFill>
                <a:latin typeface="Microsoft YaHei"/>
                <a:ea typeface="Microsoft YaHei"/>
                <a:cs typeface="Microsoft YaHei"/>
              </a:rPr>
              <a:t>07 / 07</a:t>
            </a:r>
          </a:p>
        </p:txBody>
      </p:sp>
    </p:spTree>
    <p:extLst>
      <p:ext uri="{BB962C8B-B14F-4D97-AF65-F5344CB8AC3E}">
        <p14:creationId xmlns:p14="http://schemas.microsoft.com/office/powerpoint/2010/main" val="11805991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2026-09-14T11:28:29.7480000Z</dcterms:created>
  <dcterms:modified xsi:type="dcterms:W3CDTF">2026-09-14T11:28:29.7480000Z</dcterms:modified>
</coreProperties>
</file>